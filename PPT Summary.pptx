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8E415-0586-19EA-72E0-DD45077985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A5765C-5D6C-6350-8D9B-B82AAA95DE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06E9C-21C7-B227-FE3B-386616A075A2}"/>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5" name="Footer Placeholder 4">
            <a:extLst>
              <a:ext uri="{FF2B5EF4-FFF2-40B4-BE49-F238E27FC236}">
                <a16:creationId xmlns:a16="http://schemas.microsoft.com/office/drawing/2014/main" id="{91D84620-DB22-C08C-E476-B6B2C4496B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FC886-A4BD-F0D4-54B4-AFF6740609BB}"/>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1971770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950E0-A29A-5C48-DBE9-CB2FC9640C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D02B43-4017-178F-5002-BF325C2D0C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A0D026-A954-EE57-A5E4-6568AE1C55ED}"/>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5" name="Footer Placeholder 4">
            <a:extLst>
              <a:ext uri="{FF2B5EF4-FFF2-40B4-BE49-F238E27FC236}">
                <a16:creationId xmlns:a16="http://schemas.microsoft.com/office/drawing/2014/main" id="{E1ED47ED-1986-1C83-FB81-BCA8CB6E22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A774BF-3C8F-D0FC-D50E-443979FE4DA9}"/>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1841341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B2DB5-C28E-4D13-B3E1-50E64D4A36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135E728-EC94-CAC0-CF2A-9E729CFA71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F99BD8-494D-0B0C-B7F3-DF3A844D03C6}"/>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5" name="Footer Placeholder 4">
            <a:extLst>
              <a:ext uri="{FF2B5EF4-FFF2-40B4-BE49-F238E27FC236}">
                <a16:creationId xmlns:a16="http://schemas.microsoft.com/office/drawing/2014/main" id="{8BF134EC-F8B4-28B9-D13B-CF10C87E74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45FA52-76A7-4814-7D40-6C7F46123338}"/>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1704427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B2C02-9A49-A01C-4B10-E158D8B086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1807C4-6682-CB24-2E16-93E33AE231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CB8455-1F83-28F4-C2BF-0754FE6117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A67040-2C52-0A9A-F2DD-FE1A478D2372}"/>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6" name="Footer Placeholder 5">
            <a:extLst>
              <a:ext uri="{FF2B5EF4-FFF2-40B4-BE49-F238E27FC236}">
                <a16:creationId xmlns:a16="http://schemas.microsoft.com/office/drawing/2014/main" id="{969D311B-7FC9-5078-984E-22A402EEB0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C98183-862F-F6AF-C6AD-A178D2440CEB}"/>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410110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22F6-AE5D-002A-590A-E6176D8A08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52B1EA-07C6-3BAD-1D08-7B351128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F4676A-A6EF-2EB0-97A7-E99A4D873B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883636-88B7-5085-A156-906C2A42A7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1CA367-0AA1-39BB-158E-CB65677519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61738B6-75F3-B822-ED9E-AD3BD6FFE2D5}"/>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8" name="Footer Placeholder 7">
            <a:extLst>
              <a:ext uri="{FF2B5EF4-FFF2-40B4-BE49-F238E27FC236}">
                <a16:creationId xmlns:a16="http://schemas.microsoft.com/office/drawing/2014/main" id="{FEF36E2D-07F1-F1F8-EB78-F21BCF167E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AAF486-9DF6-CACF-55E1-DA722904EAEF}"/>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150923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F750B-7886-50DE-55DD-03723D2B18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2E79B2-4427-D49C-15B2-0B26FE17EE97}"/>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4" name="Footer Placeholder 3">
            <a:extLst>
              <a:ext uri="{FF2B5EF4-FFF2-40B4-BE49-F238E27FC236}">
                <a16:creationId xmlns:a16="http://schemas.microsoft.com/office/drawing/2014/main" id="{1D80F920-C965-D03D-5E19-299F93DDBB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1FAD4A-8824-704E-9FEA-57E194F584E2}"/>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110454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A1E2D2-E391-70BF-D00D-8322217E4E19}"/>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3" name="Footer Placeholder 2">
            <a:extLst>
              <a:ext uri="{FF2B5EF4-FFF2-40B4-BE49-F238E27FC236}">
                <a16:creationId xmlns:a16="http://schemas.microsoft.com/office/drawing/2014/main" id="{D3D8EA40-4264-CE85-BCFD-1B0BC51E3C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72A91D-E564-1AD2-D4C4-06C3028B2DBE}"/>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2252448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45253-5B0F-5CA3-0401-62C6AE3F6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9F43D4-B597-93C0-13FA-E3D741F348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18D70F-AC1D-A26C-3F13-9C9043B4F6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C47B4D-6BB5-B7EA-8DB2-7BCEEAD17B6F}"/>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6" name="Footer Placeholder 5">
            <a:extLst>
              <a:ext uri="{FF2B5EF4-FFF2-40B4-BE49-F238E27FC236}">
                <a16:creationId xmlns:a16="http://schemas.microsoft.com/office/drawing/2014/main" id="{279D8BFF-FD83-D160-0C60-AD861FB33A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ECA16C-1992-6B44-51E9-9784A4445E44}"/>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757892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2C1E-BA39-15E4-402A-5693DC5B7E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BBBD698-E30D-0400-B4F2-A5B7ECEF48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523BC8-BBA9-C31C-3A15-096A331AD2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48E236-ABB1-2B6B-1993-E6633E960E32}"/>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6" name="Footer Placeholder 5">
            <a:extLst>
              <a:ext uri="{FF2B5EF4-FFF2-40B4-BE49-F238E27FC236}">
                <a16:creationId xmlns:a16="http://schemas.microsoft.com/office/drawing/2014/main" id="{1E1BD8CE-AD92-8406-5E02-EDBCF88E2C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3D7C97-7F28-319C-5936-6900D5055EC4}"/>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1741600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F88FD-15A4-1EFE-24C8-B160216248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B74ED9-1833-7D87-218C-A0316E6CF2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C37BF3-DC00-BFDF-889A-BE6C221A9F02}"/>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5" name="Footer Placeholder 4">
            <a:extLst>
              <a:ext uri="{FF2B5EF4-FFF2-40B4-BE49-F238E27FC236}">
                <a16:creationId xmlns:a16="http://schemas.microsoft.com/office/drawing/2014/main" id="{B96E5AC3-D5A4-8E1C-8863-BC90F5906E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F95E3-1CA6-07C2-87DB-8D8CB42260E0}"/>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4248144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C29DFF-6B3E-B06E-3A01-5B4051D824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6466F3-EC1F-80B1-5569-23BC2CCBBA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1C90A-CE06-0E15-6070-EFA3AF24346D}"/>
              </a:ext>
            </a:extLst>
          </p:cNvPr>
          <p:cNvSpPr>
            <a:spLocks noGrp="1"/>
          </p:cNvSpPr>
          <p:nvPr>
            <p:ph type="dt" sz="half" idx="10"/>
          </p:nvPr>
        </p:nvSpPr>
        <p:spPr/>
        <p:txBody>
          <a:bodyPr/>
          <a:lstStyle/>
          <a:p>
            <a:fld id="{F4245512-DDB6-4BEF-8094-524078FF4F7E}" type="datetimeFigureOut">
              <a:rPr lang="en-IN" smtClean="0"/>
              <a:t>04-06-2026</a:t>
            </a:fld>
            <a:endParaRPr lang="en-IN"/>
          </a:p>
        </p:txBody>
      </p:sp>
      <p:sp>
        <p:nvSpPr>
          <p:cNvPr id="5" name="Footer Placeholder 4">
            <a:extLst>
              <a:ext uri="{FF2B5EF4-FFF2-40B4-BE49-F238E27FC236}">
                <a16:creationId xmlns:a16="http://schemas.microsoft.com/office/drawing/2014/main" id="{7DB3E2D2-7754-D657-D368-C884259E4B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2389C4-462D-7F49-CCE6-1E8914C47580}"/>
              </a:ext>
            </a:extLst>
          </p:cNvPr>
          <p:cNvSpPr>
            <a:spLocks noGrp="1"/>
          </p:cNvSpPr>
          <p:nvPr>
            <p:ph type="sldNum" sz="quarter" idx="12"/>
          </p:nvPr>
        </p:nvSpPr>
        <p:spPr/>
        <p:txBody>
          <a:bodyPr/>
          <a:lstStyle/>
          <a:p>
            <a:fld id="{71EB95DD-CCA4-4E62-AC1E-D398F9759666}" type="slidenum">
              <a:rPr lang="en-IN" smtClean="0"/>
              <a:t>‹#›</a:t>
            </a:fld>
            <a:endParaRPr lang="en-IN"/>
          </a:p>
        </p:txBody>
      </p:sp>
    </p:spTree>
    <p:extLst>
      <p:ext uri="{BB962C8B-B14F-4D97-AF65-F5344CB8AC3E}">
        <p14:creationId xmlns:p14="http://schemas.microsoft.com/office/powerpoint/2010/main" val="3815340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1C7877-0035-F099-42F8-EB99C46D88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A334DD-D2B7-A422-DF4A-15E8BD8599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E10EB5-38C5-7B1B-32A6-35494B7B85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245512-DDB6-4BEF-8094-524078FF4F7E}" type="datetimeFigureOut">
              <a:rPr lang="en-IN" smtClean="0"/>
              <a:t>04-06-2026</a:t>
            </a:fld>
            <a:endParaRPr lang="en-IN"/>
          </a:p>
        </p:txBody>
      </p:sp>
      <p:sp>
        <p:nvSpPr>
          <p:cNvPr id="5" name="Footer Placeholder 4">
            <a:extLst>
              <a:ext uri="{FF2B5EF4-FFF2-40B4-BE49-F238E27FC236}">
                <a16:creationId xmlns:a16="http://schemas.microsoft.com/office/drawing/2014/main" id="{9B2B4FF4-8488-D649-8102-DBC3BF9E4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AD67E6-3BB3-79F4-D56F-B0EA449078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EB95DD-CCA4-4E62-AC1E-D398F9759666}" type="slidenum">
              <a:rPr lang="en-IN" smtClean="0"/>
              <a:t>‹#›</a:t>
            </a:fld>
            <a:endParaRPr lang="en-IN"/>
          </a:p>
        </p:txBody>
      </p:sp>
    </p:spTree>
    <p:extLst>
      <p:ext uri="{BB962C8B-B14F-4D97-AF65-F5344CB8AC3E}">
        <p14:creationId xmlns:p14="http://schemas.microsoft.com/office/powerpoint/2010/main" val="2698386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39860A-9E49-DA29-735B-19AC207E04BD}"/>
              </a:ext>
            </a:extLst>
          </p:cNvPr>
          <p:cNvSpPr txBox="1"/>
          <p:nvPr/>
        </p:nvSpPr>
        <p:spPr>
          <a:xfrm>
            <a:off x="403123" y="304800"/>
            <a:ext cx="11653041" cy="6463308"/>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Dashboard Summary</a:t>
            </a:r>
          </a:p>
          <a:p>
            <a:r>
              <a:rPr lang="en-IN" sz="2400" dirty="0">
                <a:latin typeface="Times New Roman" panose="02020603050405020304" pitchFamily="18" charset="0"/>
                <a:cs typeface="Times New Roman" panose="02020603050405020304" pitchFamily="18" charset="0"/>
              </a:rPr>
              <a:t>Project Name: Coffee Sales Chain Analysis </a:t>
            </a:r>
          </a:p>
          <a:p>
            <a:r>
              <a:rPr lang="en-IN" sz="2400" dirty="0">
                <a:latin typeface="Times New Roman" panose="02020603050405020304" pitchFamily="18" charset="0"/>
                <a:cs typeface="Times New Roman" panose="02020603050405020304" pitchFamily="18" charset="0"/>
              </a:rPr>
              <a:t>Tool: Power BI </a:t>
            </a:r>
          </a:p>
          <a:p>
            <a:r>
              <a:rPr lang="en-IN" sz="2400" dirty="0">
                <a:latin typeface="Times New Roman" panose="02020603050405020304" pitchFamily="18" charset="0"/>
                <a:cs typeface="Times New Roman" panose="02020603050405020304" pitchFamily="18" charset="0"/>
              </a:rPr>
              <a:t>Dataset: Coffee Sales Chain Analysis </a:t>
            </a:r>
          </a:p>
          <a:p>
            <a:r>
              <a:rPr lang="en-IN" sz="2400" dirty="0">
                <a:latin typeface="Times New Roman" panose="02020603050405020304" pitchFamily="18" charset="0"/>
                <a:cs typeface="Times New Roman" panose="02020603050405020304" pitchFamily="18" charset="0"/>
              </a:rPr>
              <a:t>Objective: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sales, profit, and product performance.</a:t>
            </a:r>
          </a:p>
          <a:p>
            <a:endParaRPr lang="en-IN" sz="2400" dirty="0">
              <a:latin typeface="Times New Roman" panose="02020603050405020304" pitchFamily="18" charset="0"/>
              <a:cs typeface="Times New Roman" panose="02020603050405020304" pitchFamily="18" charset="0"/>
            </a:endParaRPr>
          </a:p>
          <a:p>
            <a:r>
              <a:rPr lang="en-IN" sz="2400" b="1" dirty="0"/>
              <a:t>	Coffee Sales Chain Analysis Dashboard</a:t>
            </a:r>
            <a:r>
              <a:rPr lang="en-IN" sz="2400" dirty="0"/>
              <a:t> was developed using Power BI to </a:t>
            </a:r>
            <a:r>
              <a:rPr lang="en-IN" sz="2400" dirty="0" err="1"/>
              <a:t>analyze</a:t>
            </a:r>
            <a:r>
              <a:rPr lang="en-IN" sz="2400" dirty="0"/>
              <a:t> sales performance, profitability, product trends, and market performance. The dashboard provides an interactive view of key business metrics through KPI cards, charts, and slicers, enabling stakeholders to monitor overall business performance effectively.</a:t>
            </a:r>
          </a:p>
          <a:p>
            <a:endParaRPr lang="en-IN" sz="2400" dirty="0"/>
          </a:p>
          <a:p>
            <a:r>
              <a:rPr lang="en-IN" sz="2400" dirty="0"/>
              <a:t>	The dashboard includes key indicators such as Total Sales, Total Profit, Total Expenses, and Profit Margin. Interactive slicers allow users to filter data by Date, State, Market, and Product Line, making the analysis dynamic and user-friendly.</a:t>
            </a:r>
          </a:p>
          <a:p>
            <a:endParaRPr lang="en-IN" sz="2400" dirty="0"/>
          </a:p>
          <a:p>
            <a:endParaRPr lang="en-IN" sz="24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827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FD5EF-6B7B-7A0E-99F1-2BDC6C6905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14BD57-48BE-21FB-9062-B361CA9FC9AB}"/>
              </a:ext>
            </a:extLst>
          </p:cNvPr>
          <p:cNvSpPr txBox="1"/>
          <p:nvPr/>
        </p:nvSpPr>
        <p:spPr>
          <a:xfrm>
            <a:off x="344131" y="176980"/>
            <a:ext cx="8526328" cy="2585323"/>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Key Insights</a:t>
            </a:r>
          </a:p>
          <a:p>
            <a:r>
              <a:rPr lang="en-IN" dirty="0">
                <a:latin typeface="Times New Roman" panose="02020603050405020304" pitchFamily="18" charset="0"/>
                <a:cs typeface="Times New Roman" panose="02020603050405020304" pitchFamily="18" charset="0"/>
              </a:rPr>
              <a:t>Total Sales: 203K </a:t>
            </a:r>
          </a:p>
          <a:p>
            <a:r>
              <a:rPr lang="en-IN" dirty="0">
                <a:latin typeface="Times New Roman" panose="02020603050405020304" pitchFamily="18" charset="0"/>
                <a:cs typeface="Times New Roman" panose="02020603050405020304" pitchFamily="18" charset="0"/>
              </a:rPr>
              <a:t>Total Profit: 64K </a:t>
            </a:r>
          </a:p>
          <a:p>
            <a:r>
              <a:rPr lang="en-IN" dirty="0">
                <a:latin typeface="Times New Roman" panose="02020603050405020304" pitchFamily="18" charset="0"/>
                <a:cs typeface="Times New Roman" panose="02020603050405020304" pitchFamily="18" charset="0"/>
              </a:rPr>
              <a:t>Profit Margin: 31.7% </a:t>
            </a:r>
          </a:p>
          <a:p>
            <a:r>
              <a:rPr lang="en-IN" dirty="0">
                <a:latin typeface="Times New Roman" panose="02020603050405020304" pitchFamily="18" charset="0"/>
                <a:cs typeface="Times New Roman" panose="02020603050405020304" pitchFamily="18" charset="0"/>
              </a:rPr>
              <a:t>California had the highest sales. </a:t>
            </a:r>
          </a:p>
          <a:p>
            <a:r>
              <a:rPr lang="en-IN" dirty="0">
                <a:latin typeface="Times New Roman" panose="02020603050405020304" pitchFamily="18" charset="0"/>
                <a:cs typeface="Times New Roman" panose="02020603050405020304" pitchFamily="18" charset="0"/>
              </a:rPr>
              <a:t>Espresso was the most profitable product type. </a:t>
            </a:r>
          </a:p>
          <a:p>
            <a:r>
              <a:rPr lang="en-IN" dirty="0">
                <a:latin typeface="Times New Roman" panose="02020603050405020304" pitchFamily="18" charset="0"/>
                <a:cs typeface="Times New Roman" panose="02020603050405020304" pitchFamily="18" charset="0"/>
              </a:rPr>
              <a:t>Actual sales met/exceeded targets for key product lines.</a:t>
            </a:r>
          </a:p>
          <a:p>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48829AC-674C-E6E0-5F2C-1EC1387AD991}"/>
              </a:ext>
            </a:extLst>
          </p:cNvPr>
          <p:cNvPicPr>
            <a:picLocks noChangeAspect="1"/>
          </p:cNvPicPr>
          <p:nvPr/>
        </p:nvPicPr>
        <p:blipFill>
          <a:blip r:embed="rId2">
            <a:extLst>
              <a:ext uri="{28A0092B-C50C-407E-A947-70E740481C1C}">
                <a14:useLocalDpi xmlns:a14="http://schemas.microsoft.com/office/drawing/2010/main" val="0"/>
              </a:ext>
            </a:extLst>
          </a:blip>
          <a:srcRect l="398" r="-1" b="1675"/>
          <a:stretch>
            <a:fillRect/>
          </a:stretch>
        </p:blipFill>
        <p:spPr>
          <a:xfrm>
            <a:off x="2186609" y="2413597"/>
            <a:ext cx="7469042" cy="4195925"/>
          </a:xfrm>
          <a:prstGeom prst="rect">
            <a:avLst/>
          </a:prstGeom>
        </p:spPr>
      </p:pic>
    </p:spTree>
    <p:extLst>
      <p:ext uri="{BB962C8B-B14F-4D97-AF65-F5344CB8AC3E}">
        <p14:creationId xmlns:p14="http://schemas.microsoft.com/office/powerpoint/2010/main" val="2801048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169</Words>
  <Application>Microsoft Office PowerPoint</Application>
  <PresentationFormat>Widescreen</PresentationFormat>
  <Paragraphs>17</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ASRITHA MYLA</dc:creator>
  <cp:lastModifiedBy>ASRITHA MYLA</cp:lastModifiedBy>
  <cp:revision>1</cp:revision>
  <dcterms:created xsi:type="dcterms:W3CDTF">2026-06-04T11:55:34Z</dcterms:created>
  <dcterms:modified xsi:type="dcterms:W3CDTF">2026-06-04T12:01:27Z</dcterms:modified>
</cp:coreProperties>
</file>